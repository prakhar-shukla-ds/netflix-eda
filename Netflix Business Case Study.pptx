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9431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640080" y="1963721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5091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3721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DATA CASE STUDY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anose="020B0603020202020204" pitchFamily="34" charset="0"/>
                <a:ea typeface="Bookman Old Style" pitchFamily="34" charset="-122"/>
                <a:cs typeface="Bookman Old Style" pitchFamily="34" charset="-120"/>
              </a:rPr>
              <a:t>Netflix Content Strategy:</a:t>
            </a:r>
            <a:endParaRPr lang="en-US" sz="4000" dirty="0">
              <a:latin typeface="Trebuchet MS" panose="020B0603020202020204" pitchFamily="34" charset="0"/>
            </a:endParaRPr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anose="020B0603020202020204" pitchFamily="34" charset="0"/>
                <a:ea typeface="Bookman Old Style" pitchFamily="34" charset="-122"/>
                <a:cs typeface="Bookman Old Style" pitchFamily="34" charset="-120"/>
              </a:rPr>
              <a:t>Data Exploration &amp; Visualization</a:t>
            </a:r>
            <a:endParaRPr lang="en-US" sz="4000" dirty="0">
              <a:latin typeface="Trebuchet MS" panose="020B0603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An end-to-end EDA of Netflix's global content catalogue — cleaning, univariate and bivariate analysis, and outlier checks — turned into business insights on content strategy across markets.</a:t>
            </a:r>
            <a:endParaRPr lang="en-US" sz="1500" dirty="0">
              <a:latin typeface="Trebuchet MS" panose="020B0603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E5091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34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8,807 TITLES</a:t>
            </a:r>
            <a:endParaRPr lang="en-US" sz="1150" dirty="0">
              <a:latin typeface="Trebuchet MS" panose="020B0603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54680" y="443484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564D4D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4434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12 ATTRIBUTES</a:t>
            </a:r>
            <a:endParaRPr lang="en-US" sz="1150" dirty="0">
              <a:latin typeface="Trebuchet MS" panose="020B0603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69280" y="443484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3A3A3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4434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11 VISUAL ANALYSES</a:t>
            </a:r>
            <a:endParaRPr lang="en-US" sz="1150" dirty="0">
              <a:latin typeface="Trebuchet MS" panose="020B0603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5074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C8C8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050" dirty="0">
              <a:latin typeface="Trebuchet MS" panose="020B0603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5376672"/>
            <a:ext cx="832104" cy="384048"/>
          </a:xfrm>
          <a:prstGeom prst="roundRect">
            <a:avLst>
              <a:gd name="adj" fmla="val 19048"/>
            </a:avLst>
          </a:prstGeom>
          <a:ln w="15875">
            <a:solidFill>
              <a:srgbClr val="E509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376672"/>
            <a:ext cx="832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>
              <a:latin typeface="Trebuchet MS" panose="020B0603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636776" y="5376672"/>
            <a:ext cx="736092" cy="384048"/>
          </a:xfrm>
          <a:prstGeom prst="roundRect">
            <a:avLst>
              <a:gd name="adj" fmla="val 19048"/>
            </a:avLst>
          </a:prstGeom>
          <a:ln w="15875">
            <a:solidFill>
              <a:srgbClr val="E509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36776" y="5376672"/>
            <a:ext cx="7360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50" dirty="0">
              <a:latin typeface="Trebuchet MS" panose="020B0603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537460" y="5376672"/>
            <a:ext cx="832104" cy="384048"/>
          </a:xfrm>
          <a:prstGeom prst="roundRect">
            <a:avLst>
              <a:gd name="adj" fmla="val 19048"/>
            </a:avLst>
          </a:prstGeom>
          <a:ln w="15875">
            <a:solidFill>
              <a:srgbClr val="E509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37460" y="5376672"/>
            <a:ext cx="832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>
              <a:latin typeface="Trebuchet MS" panose="020B0603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534156" y="5376672"/>
            <a:ext cx="1216152" cy="384048"/>
          </a:xfrm>
          <a:prstGeom prst="roundRect">
            <a:avLst>
              <a:gd name="adj" fmla="val 19048"/>
            </a:avLst>
          </a:prstGeom>
          <a:ln w="15875">
            <a:solidFill>
              <a:srgbClr val="E509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34156" y="5376672"/>
            <a:ext cx="1216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50" dirty="0">
              <a:latin typeface="Trebuchet MS" panose="020B0603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914900" y="5376672"/>
            <a:ext cx="928116" cy="384048"/>
          </a:xfrm>
          <a:prstGeom prst="roundRect">
            <a:avLst>
              <a:gd name="adj" fmla="val 19048"/>
            </a:avLst>
          </a:prstGeom>
          <a:ln w="15875">
            <a:solidFill>
              <a:srgbClr val="E509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4900" y="5376672"/>
            <a:ext cx="9281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150" dirty="0">
              <a:latin typeface="Trebuchet MS" panose="020B0603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1081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Prakhar Shukla</a:t>
            </a:r>
            <a:endParaRPr lang="en-US" sz="1300" dirty="0">
              <a:latin typeface="Trebuchet MS" panose="020B0603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49440" y="6108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linkedin.com/in/prakhar-shukla-ds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49440" y="6382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github.com/prakhar-shukla-ds</a:t>
            </a:r>
            <a:endParaRPr lang="en-US" sz="1000" dirty="0">
              <a:latin typeface="Trebuchet MS" panose="020B0603020202020204" pitchFamily="34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CA5A8B3-AE15-73D0-472A-42014FFD8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82" y="251688"/>
            <a:ext cx="3411236" cy="143271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EA74034-9441-814C-2004-682940174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768" y="-512063"/>
            <a:ext cx="1635232" cy="29717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4"/>
                </a:solidFill>
                <a:latin typeface="Trebuchet MS" panose="020B0603020202020204" pitchFamily="34" charset="0"/>
                <a:ea typeface="Bookman Old Style" pitchFamily="34" charset="-122"/>
                <a:cs typeface="Bookman Old Style" pitchFamily="34" charset="-120"/>
              </a:rPr>
              <a:t>A Global Netflix Content Catalogue</a:t>
            </a:r>
            <a:endParaRPr lang="en-US" sz="2800" dirty="0">
              <a:latin typeface="Trebuchet MS" panose="020B06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8,807 titles across 12 attributes covering content type, cast, director, country, genre, rating, release year, and platform add date — built for univariate, bivariate, and outlier analysis.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7F7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49631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show_id, type, title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06240" y="23317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7F7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4840" y="249631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34840" y="28803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cast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23317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7F7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92440" y="249631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92440" y="28803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7F7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09651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Timing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date_added, release_year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06240" y="39319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7F7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34840" y="409651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34840" y="44805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listed_in (genre)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863840" y="39319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7F7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92440" y="409651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92440" y="44805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description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DATA CASE STUDY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4"/>
                </a:solidFill>
                <a:latin typeface="Trebuchet MS" panose="020B0603020202020204" pitchFamily="34" charset="0"/>
                <a:ea typeface="Bookman Old Style" pitchFamily="34" charset="-122"/>
                <a:cs typeface="Bookman Old Style" pitchFamily="34" charset="-120"/>
              </a:rPr>
              <a:t>11 Analyses, 3 Stages</a:t>
            </a:r>
            <a:endParaRPr lang="en-US" sz="2800" dirty="0">
              <a:latin typeface="Trebuchet MS" panose="020B06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single-variable distributions to cross-variable relationships and outlier checks, the analysis builds up through cleaning, visualization, and business interpretation.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7F7F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4028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496312"/>
            <a:ext cx="3520440" cy="24688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402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· 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30632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Type: Movies vs TV Shows</a:t>
            </a:r>
            <a:endParaRPr lang="en-US" sz="1250" dirty="0"/>
          </a:p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Release Year</a:t>
            </a:r>
            <a:endParaRPr lang="en-US" sz="1250" dirty="0"/>
          </a:p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Movie Duration</a:t>
            </a:r>
            <a:endParaRPr lang="en-US" sz="1250" dirty="0"/>
          </a:p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TV Show Seasons</a:t>
            </a:r>
            <a:endParaRPr lang="en-US" sz="1250" dirty="0"/>
          </a:p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Count by Maturity Rating</a:t>
            </a:r>
            <a:endParaRPr lang="en-US" sz="1250" dirty="0"/>
          </a:p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Countries by Content Count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22402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7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224028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E50914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2496312"/>
            <a:ext cx="3520440" cy="24688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2402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·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2926080"/>
            <a:ext cx="30632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Duration by Maturity Rating</a:t>
            </a:r>
            <a:endParaRPr lang="en-US" sz="1250" dirty="0"/>
          </a:p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 Seasons by Maturity Rating</a:t>
            </a:r>
            <a:endParaRPr lang="en-US" sz="1250" dirty="0"/>
          </a:p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Year by Content Type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224028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7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0" y="224028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3747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0" y="2496312"/>
            <a:ext cx="3520440" cy="246888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22402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CHECK · 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75320" y="2926080"/>
            <a:ext cx="30632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Detection: Movie Duration</a:t>
            </a:r>
            <a:endParaRPr lang="en-US" sz="1250" dirty="0"/>
          </a:p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Detection: TV Show Seasons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DATA CASE STUDY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418320" y="4114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114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 OF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4"/>
                </a:solidFill>
                <a:latin typeface="Trebuchet MS" panose="020B0603020202020204" pitchFamily="34" charset="0"/>
                <a:ea typeface="Bookman Old Style" pitchFamily="34" charset="-122"/>
                <a:cs typeface="Bookman Old Style" pitchFamily="34" charset="-120"/>
              </a:rPr>
              <a:t>Content Type: Movies vs TV Shows</a:t>
            </a:r>
            <a:endParaRPr lang="en-US" sz="2500" dirty="0">
              <a:latin typeface="Trebuchet MS" panose="020B06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count of titles by type establishes the baseline shape of the catalogue.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DEBE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288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kern="0" spc="1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dominate the catalogue — 6,131 titles (69.6%) vs 2,676 TV Shows (30.4%).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5532120" cy="868680"/>
          </a:xfrm>
          <a:prstGeom prst="roundRect">
            <a:avLst>
              <a:gd name="adj" fmla="val 7368"/>
            </a:avLst>
          </a:prstGeom>
          <a:solidFill>
            <a:srgbClr val="EFEFEF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2880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kern="0" spc="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  </a:t>
            </a: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rows by the type column and plotted Movie vs TV Show as a bar chart to see the overall split.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2926080"/>
            <a:ext cx="868680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0" descr="/home/claude/netflix_deck/images/content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599" y="3154680"/>
            <a:ext cx="5504321" cy="3063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DATA CASE STUDY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418320" y="4114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114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2 OF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4"/>
                </a:solidFill>
                <a:latin typeface="Trebuchet MS" panose="020B0603020202020204" pitchFamily="34" charset="0"/>
                <a:ea typeface="Bookman Old Style" pitchFamily="34" charset="-122"/>
                <a:cs typeface="Bookman Old Style" pitchFamily="34" charset="-120"/>
              </a:rPr>
              <a:t>Distribution of Release Year</a:t>
            </a:r>
            <a:endParaRPr lang="en-US" sz="2500" dirty="0">
              <a:latin typeface="Trebuchet MS" panose="020B06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histogram of release_year shows how old (or new) the catalogue's content is.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DEBE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288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kern="0" spc="1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right-skewed: very few titles before 2000; the median release year is 2017.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5532120" cy="868680"/>
          </a:xfrm>
          <a:prstGeom prst="roundRect">
            <a:avLst>
              <a:gd name="adj" fmla="val 7368"/>
            </a:avLst>
          </a:prstGeom>
          <a:solidFill>
            <a:srgbClr val="EFEFEF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2880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kern="0" spc="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  </a:t>
            </a: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Plotted a histogram with a KDE overlay on release_year across the full 1925–2021 range.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2926080"/>
            <a:ext cx="868680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0" descr="/home/claude/netflix_deck/images/release_year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793" y="3154680"/>
            <a:ext cx="5505934" cy="3063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DATA CASE STUDY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418320" y="4114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114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3 OF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4"/>
                </a:solidFill>
                <a:latin typeface="Trebuchet MS" panose="020B0603020202020204" pitchFamily="34" charset="0"/>
                <a:ea typeface="Bookman Old Style" pitchFamily="34" charset="-122"/>
                <a:cs typeface="Bookman Old Style" pitchFamily="34" charset="-120"/>
              </a:rPr>
              <a:t>Distribution of Movie Duration</a:t>
            </a:r>
            <a:endParaRPr lang="en-US" sz="2500" dirty="0">
              <a:latin typeface="Trebuchet MS" panose="020B06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runtimes were parsed from the duration column and plotted as a histogram.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DEBE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288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kern="0" spc="1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movies run 87–114 minutes, centered around ~98 minutes — a standard feature length.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5532120" cy="868680"/>
          </a:xfrm>
          <a:prstGeom prst="roundRect">
            <a:avLst>
              <a:gd name="adj" fmla="val 7368"/>
            </a:avLst>
          </a:prstGeom>
          <a:solidFill>
            <a:srgbClr val="EFEFEF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2880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kern="0" spc="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  </a:t>
            </a: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the numeric minute value from duration for rows where type = Movie, then plotted the distribution.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2926080"/>
            <a:ext cx="868680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0" descr="/home/claude/netflix_deck/images/movie_duration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923" y="3154680"/>
            <a:ext cx="5491674" cy="3063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DATA CASE STUDY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418320" y="4114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114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4 OF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4"/>
                </a:solidFill>
                <a:latin typeface="Trebuchet MS" panose="020B0603020202020204" pitchFamily="34" charset="0"/>
                <a:ea typeface="Bookman Old Style" pitchFamily="34" charset="-122"/>
                <a:cs typeface="Bookman Old Style" pitchFamily="34" charset="-120"/>
              </a:rPr>
              <a:t>Distribution of TV Show Seasons</a:t>
            </a:r>
            <a:endParaRPr lang="en-US" sz="2500" dirty="0">
              <a:latin typeface="Trebuchet MS" panose="020B06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counts were parsed from duration for TV Shows to see renewal patterns.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DEBE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288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kern="0" spc="1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67% of TV Shows have just 1 season; the longest-running show has 17 seasons.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5532120" cy="868680"/>
          </a:xfrm>
          <a:prstGeom prst="roundRect">
            <a:avLst>
              <a:gd name="adj" fmla="val 7368"/>
            </a:avLst>
          </a:prstGeom>
          <a:solidFill>
            <a:srgbClr val="EFEFEF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2880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kern="0" spc="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  </a:t>
            </a: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the season count from duration where type = TV Show and plotted it as a histogram.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2926080"/>
            <a:ext cx="868680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0" descr="/home/claude/netflix_deck/images/tv_duration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793" y="3154680"/>
            <a:ext cx="5505934" cy="3063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DATA CASE STUDY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418320" y="4114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114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5 OF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4"/>
                </a:solidFill>
                <a:latin typeface="Trebuchet MS" panose="020B0603020202020204" pitchFamily="34" charset="0"/>
                <a:ea typeface="Bookman Old Style" pitchFamily="34" charset="-122"/>
                <a:cs typeface="Bookman Old Style" pitchFamily="34" charset="-120"/>
              </a:rPr>
              <a:t>Content Count by Maturity Rating</a:t>
            </a:r>
            <a:endParaRPr lang="en-US" sz="2500" dirty="0">
              <a:latin typeface="Trebuchet MS" panose="020B06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titles by rating reveals which audience segments Netflix serves most.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DEBE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288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kern="0" spc="1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TV-MA and TV-14 lead, together making up about 61% of the catalogue.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5532120" cy="868680"/>
          </a:xfrm>
          <a:prstGeom prst="roundRect">
            <a:avLst>
              <a:gd name="adj" fmla="val 7368"/>
            </a:avLst>
          </a:prstGeom>
          <a:solidFill>
            <a:srgbClr val="EFEFEF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2880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kern="0" spc="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  </a:t>
            </a: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titles per rating category and plotted them as a horizontal bar chart, sorted descending.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2926080"/>
            <a:ext cx="868680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0" descr="/home/claude/netflix_deck/images/rating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162" y="3154680"/>
            <a:ext cx="5725196" cy="3063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DATA CASE STUDY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418320" y="4114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114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6 OF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4"/>
                </a:solidFill>
                <a:latin typeface="Trebuchet MS" panose="020B0603020202020204" pitchFamily="34" charset="0"/>
                <a:ea typeface="Bookman Old Style" pitchFamily="34" charset="-122"/>
                <a:cs typeface="Bookman Old Style" pitchFamily="34" charset="-120"/>
              </a:rPr>
              <a:t>Top 10 Countries by Content Count</a:t>
            </a:r>
            <a:endParaRPr lang="en-US" sz="2500" dirty="0">
              <a:latin typeface="Trebuchet MS" panose="020B06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country field was unnested (comma-separated) before counting, so co-productions count once per country.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DEBE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288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kern="0" spc="1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States leads with 3,689 titles, followed by India (1,046) and the UK (804).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5532120" cy="868680"/>
          </a:xfrm>
          <a:prstGeom prst="roundRect">
            <a:avLst>
              <a:gd name="adj" fmla="val 7368"/>
            </a:avLst>
          </a:prstGeom>
          <a:solidFill>
            <a:srgbClr val="EFEFEF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2880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kern="0" spc="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  </a:t>
            </a: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multi-value country strings into one row per country, counted titles per country, and ranked the top 10.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2926080"/>
            <a:ext cx="868680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0" descr="/home/claude/netflix_deck/images/top10_count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634" y="3154680"/>
            <a:ext cx="6030253" cy="3063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DATA CASE STUDY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BIVARIATE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418320" y="4114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114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7 OF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4"/>
                </a:solidFill>
                <a:latin typeface="Trebuchet MS" panose="020B0603020202020204" pitchFamily="34" charset="0"/>
                <a:ea typeface="Bookman Old Style" pitchFamily="34" charset="-122"/>
                <a:cs typeface="Bookman Old Style" pitchFamily="34" charset="-120"/>
              </a:rPr>
              <a:t>Movie Duration by Maturity Rating</a:t>
            </a:r>
            <a:endParaRPr lang="en-US" sz="2500" dirty="0">
              <a:latin typeface="Trebuchet MS" panose="020B06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boxplot compares runtime distributions across rating categories.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DEBE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288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kern="0" spc="1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NC-17 and TV-14 movies run longest on average; TV-PG and PG titles are generally shorter.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5532120" cy="868680"/>
          </a:xfrm>
          <a:prstGeom prst="roundRect">
            <a:avLst>
              <a:gd name="adj" fmla="val 7368"/>
            </a:avLst>
          </a:prstGeom>
          <a:solidFill>
            <a:srgbClr val="EFEFEF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2880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kern="0" spc="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  </a:t>
            </a: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movie duration by rating and plotted boxplots to compare medians, spread, and outliers per category.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2926080"/>
            <a:ext cx="868680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0" descr="/home/claude/netflix_deck/images/movie_duration_by_ra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405" y="3154680"/>
            <a:ext cx="6044710" cy="3063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DATA CASE STUDY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418320" y="4114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114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8 OF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4"/>
                </a:solidFill>
                <a:latin typeface="Trebuchet MS" panose="020B0603020202020204" pitchFamily="34" charset="0"/>
                <a:ea typeface="Bookman Old Style" pitchFamily="34" charset="-122"/>
                <a:cs typeface="Bookman Old Style" pitchFamily="34" charset="-120"/>
              </a:rPr>
              <a:t>TV Show Seasons by Maturity Rating</a:t>
            </a:r>
            <a:endParaRPr lang="en-US" sz="2500" dirty="0">
              <a:latin typeface="Trebuchet MS" panose="020B06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boxplot approach applied to season count instead of movie runtime.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DEBE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288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kern="0" spc="1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is 1 season across almost every rating; TV-MA and TV-14 show the widest spread, including 10+ season runs.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5532120" cy="868680"/>
          </a:xfrm>
          <a:prstGeom prst="roundRect">
            <a:avLst>
              <a:gd name="adj" fmla="val 7368"/>
            </a:avLst>
          </a:prstGeom>
          <a:solidFill>
            <a:srgbClr val="EFEFEF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2880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kern="0" spc="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  </a:t>
            </a: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season count by rating and plotted boxplots to surface which ratings sustain long-running series.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2926080"/>
            <a:ext cx="868680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0" descr="/home/claude/netflix_deck/images/tv_seasons_by_ra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046" y="3154680"/>
            <a:ext cx="5991427" cy="3063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DATA CASE STUDY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BIVARIATE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418320" y="4114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114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9 OF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4"/>
                </a:solidFill>
                <a:latin typeface="Trebuchet MS" panose="020B0603020202020204" pitchFamily="34" charset="0"/>
                <a:ea typeface="Bookman Old Style" pitchFamily="34" charset="-122"/>
                <a:cs typeface="Bookman Old Style" pitchFamily="34" charset="-120"/>
              </a:rPr>
              <a:t>Release Year by Content Type</a:t>
            </a:r>
            <a:endParaRPr lang="en-US" sz="2500" dirty="0">
              <a:latin typeface="Trebuchet MS" panose="020B06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release_year distributions between Movies and TV Shows shows recency by format.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DEBE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288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kern="0" spc="1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 skew slightly more recent (median 2018) than Movies (median 2016).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5532120" cy="868680"/>
          </a:xfrm>
          <a:prstGeom prst="roundRect">
            <a:avLst>
              <a:gd name="adj" fmla="val 7368"/>
            </a:avLst>
          </a:prstGeom>
          <a:solidFill>
            <a:srgbClr val="EFEFEF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2880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kern="0" spc="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  </a:t>
            </a: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release_year by type and plotted side-by-side boxplots to compare medians and spread.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2926080"/>
            <a:ext cx="868680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0" descr="/home/claude/netflix_deck/images/release_year_by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532" y="3154680"/>
            <a:ext cx="6718456" cy="3063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DATA CASE STUDY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3747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OUTLIER CHECK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418320" y="4114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114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10 OF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4"/>
                </a:solidFill>
                <a:latin typeface="Trebuchet MS" panose="020B0603020202020204" pitchFamily="34" charset="0"/>
                <a:ea typeface="Bookman Old Style" pitchFamily="34" charset="-122"/>
                <a:cs typeface="Bookman Old Style" pitchFamily="34" charset="-120"/>
              </a:rPr>
              <a:t>Outlier Detection: Movie Duration</a:t>
            </a:r>
            <a:endParaRPr lang="en-US" sz="2500" dirty="0">
              <a:latin typeface="Trebuchet MS" panose="020B06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boxplot on movie runtime flags unusually short or long titles beyond the IQR whiskers.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DEBE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288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kern="0" spc="1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movies exceed 250 minutes — rare specials or epics rather than the norm; these were kept, not removed.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5532120" cy="868680"/>
          </a:xfrm>
          <a:prstGeom prst="roundRect">
            <a:avLst>
              <a:gd name="adj" fmla="val 7368"/>
            </a:avLst>
          </a:prstGeom>
          <a:solidFill>
            <a:srgbClr val="EFEFEF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2880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kern="0" spc="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  </a:t>
            </a: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Plotted a horizontal boxplot on movie duration and visually inspected points beyond the whiskers as candidate outliers.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2926080"/>
            <a:ext cx="868680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0" descr="/home/claude/netflix_deck/images/outlier_movie_du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249" y="3154680"/>
            <a:ext cx="5035022" cy="3063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DATA CASE STUDY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3747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OUTLIER CHECK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418320" y="4114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0" y="4114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11 OF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14"/>
                </a:solidFill>
                <a:latin typeface="Trebuchet MS" panose="020B0603020202020204" pitchFamily="34" charset="0"/>
                <a:ea typeface="Bookman Old Style" pitchFamily="34" charset="-122"/>
                <a:cs typeface="Bookman Old Style" pitchFamily="34" charset="-120"/>
              </a:rPr>
              <a:t>Outlier Detection: TV Show Seasons</a:t>
            </a:r>
            <a:endParaRPr lang="en-US" sz="2500" dirty="0">
              <a:latin typeface="Trebuchet MS" panose="020B06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outlier check applied to season count for TV Shows.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DEBE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288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kern="0" spc="1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 </a:t>
            </a: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long-running series (up to 17 seasons) sit well beyond the whiskers — valid data, not errors.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5532120" cy="868680"/>
          </a:xfrm>
          <a:prstGeom prst="roundRect">
            <a:avLst>
              <a:gd name="adj" fmla="val 7368"/>
            </a:avLst>
          </a:prstGeom>
          <a:solidFill>
            <a:srgbClr val="EFEFEF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28800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kern="0" spc="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  </a:t>
            </a: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Plotted a boxplot on season count; confirmed high-season outliers were genuine long-running shows and retained them.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2926080"/>
            <a:ext cx="8686800" cy="352044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0" descr="/home/claude/netflix_deck/images/outlier_tv_seas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305" y="3154680"/>
            <a:ext cx="5040911" cy="3063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DATA CASE STUDY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anose="020B0603020202020204" pitchFamily="34" charset="0"/>
                <a:ea typeface="Bookman Old Style" pitchFamily="34" charset="-122"/>
                <a:cs typeface="Bookman Old Style" pitchFamily="34" charset="-120"/>
              </a:rPr>
              <a:t>Key Business Insights</a:t>
            </a:r>
            <a:endParaRPr lang="en-US" sz="3000" dirty="0">
              <a:latin typeface="Trebuchet MS" panose="020B0603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F1F1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91640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>
              <a:latin typeface="Trebuchet MS" panose="020B0603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54480" y="167335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Movies still dominate, but TV Shows are gaining ground.</a:t>
            </a:r>
            <a:endParaRPr lang="en-US" sz="1450" dirty="0">
              <a:latin typeface="Trebuchet MS" panose="020B06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TV Show additions grew from 25% to 33.7% of new titles between 2018 and 2021, while Movie additions declined after 2020.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1691640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>
              <a:latin typeface="Trebuchet MS" panose="020B0603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78040" y="167335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Long-running series are the exception, not the rule.</a:t>
            </a:r>
            <a:endParaRPr lang="en-US" sz="1450" dirty="0">
              <a:latin typeface="Trebuchet MS" panose="020B0603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3796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About 67% of TV Shows have just one season, and long-running shows (4+ seasons) are concentrated in the TV-MA and TV-14 ratings.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F1F1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>
              <a:latin typeface="Trebuchet MS" panose="020B0603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54480" y="427939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Content preferences vary sharply by country.</a:t>
            </a:r>
            <a:endParaRPr lang="en-US" sz="1450" dirty="0">
              <a:latin typeface="Trebuchet MS" panose="020B0603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4400" y="507492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South Korea and Japan lean toward TV Shows, while India and Germany lean toward Movies — a case for market-specific content strategy.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40233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4297680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>
              <a:latin typeface="Trebuchet MS" panose="020B0603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78040" y="427939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The catalogue is concentrated in a few markets and genres.</a:t>
            </a:r>
            <a:endParaRPr lang="en-US" sz="1450" dirty="0">
              <a:latin typeface="Trebuchet MS" panose="020B0603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37960" y="507492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The US and India account for a disproportionate share of titles, and Drama, Comedy, and International content dominate the genre mix.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NETFLIX DATA CASE STUDY</a:t>
            </a:r>
            <a:endParaRPr lang="en-US" sz="900" dirty="0">
              <a:latin typeface="Trebuchet MS" panose="020B0603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4"/>
                </a:solidFill>
                <a:latin typeface="Trebuchet MS" panose="020B0603020202020204" pitchFamily="34" charset="0"/>
                <a:ea typeface="Bookman Old Style" pitchFamily="34" charset="-122"/>
                <a:cs typeface="Bookman Old Style" pitchFamily="34" charset="-120"/>
              </a:rPr>
              <a:t>Key Recommendations</a:t>
            </a:r>
            <a:endParaRPr lang="en-US" sz="2800" dirty="0">
              <a:latin typeface="Trebuchet MS" panose="020B0603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7F7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202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25880" y="185623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Increase investment in TV Shows.</a:t>
            </a:r>
            <a:endParaRPr lang="en-US" sz="1300" dirty="0">
              <a:latin typeface="Trebuchet MS" panose="020B0603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25880" y="2258568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4D4D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Their share of new additions is growing and they drive longer viewer engagement than one-off movies.</a:t>
            </a:r>
            <a:endParaRPr lang="en-US" sz="1050" dirty="0">
              <a:latin typeface="Trebuchet MS" panose="020B0603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7F7F7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19202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49440" y="185623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Expand family-friendly content.</a:t>
            </a:r>
            <a:endParaRPr lang="en-US" sz="1300" dirty="0">
              <a:latin typeface="Trebuchet MS" panose="020B0603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49440" y="2258568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4D4D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The catalogue skews heavily toward TV-MA and TV-14; broadening PG/TV-Y content can widen the audience base.</a:t>
            </a:r>
            <a:endParaRPr lang="en-US" sz="1050" dirty="0">
              <a:latin typeface="Trebuchet MS" panose="020B0603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331012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7F7F7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538728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25880" y="347472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Tailor content strategy by country.</a:t>
            </a:r>
            <a:endParaRPr lang="en-US" sz="1300" dirty="0">
              <a:latin typeface="Trebuchet MS" panose="020B0603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25880" y="3877056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4D4D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Grow TV Show investment in South Korea and Japan; continue strong Movie investment in India and Germany.</a:t>
            </a:r>
            <a:endParaRPr lang="en-US" sz="1050" dirty="0">
              <a:latin typeface="Trebuchet MS" panose="020B0603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72200" y="3310128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3538728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949440" y="347472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Prioritize high-quality limited series.</a:t>
            </a:r>
            <a:endParaRPr lang="en-US" sz="1300" dirty="0">
              <a:latin typeface="Trebuchet MS" panose="020B0603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949440" y="3877056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4D4D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Since most shows run one season, focused limited series can attract viewers at lower long-term production cost.</a:t>
            </a:r>
            <a:endParaRPr lang="en-US" sz="1050" dirty="0">
              <a:latin typeface="Trebuchet MS" panose="020B0603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4928616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7F7F7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5157216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157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325880" y="509320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Time major releases for July and December.</a:t>
            </a:r>
            <a:endParaRPr lang="en-US" sz="1300" dirty="0">
              <a:latin typeface="Trebuchet MS" panose="020B0603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325880" y="5495544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4D4D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These months see the highest historical content additions and likely audience activity.</a:t>
            </a:r>
            <a:endParaRPr lang="en-US" sz="1050" dirty="0">
              <a:latin typeface="Trebuchet MS" panose="020B0603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172200" y="4928616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7F7F7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5157216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5157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949440" y="509320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Diversify beyond the top markets and genres.</a:t>
            </a:r>
            <a:endParaRPr lang="en-US" sz="1300" dirty="0">
              <a:latin typeface="Trebuchet MS" panose="020B0603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949440" y="5495544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64D4D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Invest in underrepresented countries and genres to broaden reach and reduce concentration risk.</a:t>
            </a:r>
            <a:endParaRPr lang="en-US" sz="1050" dirty="0">
              <a:latin typeface="Trebuchet MS" panose="020B0603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C8C8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NETFLIX DATA CASE STUDY</a:t>
            </a:r>
            <a:endParaRPr lang="en-US" sz="900" dirty="0">
              <a:latin typeface="Trebuchet MS" panose="020B0603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40080" y="2704944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anose="020B0603020202020204" pitchFamily="34" charset="0"/>
                <a:ea typeface="Bookman Old Style" pitchFamily="34" charset="-122"/>
                <a:cs typeface="Bookman Old Style" pitchFamily="34" charset="-120"/>
              </a:rPr>
              <a:t>THANK YOU.</a:t>
            </a:r>
            <a:endParaRPr lang="en-US" sz="4400" dirty="0">
              <a:latin typeface="Trebuchet MS" panose="020B0603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0121" y="6298163"/>
            <a:ext cx="77724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8C8C"/>
                </a:solidFill>
                <a:latin typeface="Trebuchet MS" panose="020B0603020202020204" pitchFamily="34" charset="0"/>
                <a:ea typeface="Calibri" pitchFamily="34" charset="-122"/>
                <a:cs typeface="Calibri" pitchFamily="34" charset="-120"/>
              </a:rPr>
              <a:t>Prakhar Shukla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E62B92-A33B-80EC-CD09-5594AA443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82" y="251688"/>
            <a:ext cx="3411236" cy="14327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FB31DE-79A2-D7A2-910F-22616A1FF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768" y="-512063"/>
            <a:ext cx="1635232" cy="29717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1342</Words>
  <Application>Microsoft Office PowerPoint</Application>
  <PresentationFormat>Widescreen</PresentationFormat>
  <Paragraphs>196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Prakhar Shukla</cp:lastModifiedBy>
  <cp:revision>4</cp:revision>
  <dcterms:created xsi:type="dcterms:W3CDTF">2026-07-30T08:07:36Z</dcterms:created>
  <dcterms:modified xsi:type="dcterms:W3CDTF">2026-07-30T08:42:21Z</dcterms:modified>
</cp:coreProperties>
</file>